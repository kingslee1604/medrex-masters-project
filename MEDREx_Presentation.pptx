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0"/>
            <a:ext cx="109728" cy="384048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554480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MEDREx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7DD3FC"/>
                </a:solidFill>
              </a:rPr>
              <a:t>Medical Evidence &amp; Decision Reasoning eXchange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337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E2E8F0"/>
                </a:solidFill>
              </a:rPr>
              <a:t>LLM-Based Diagnostic Insight Extraction from Pathology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977639"/>
            <a:ext cx="4572000" cy="2540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1605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</a:rPr>
              <a:t>Student:  Kingslee Dominic Savio Velu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2E8F0"/>
                </a:solidFill>
              </a:rPr>
              <a:t>Course:   CSC 590 – Master's Project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2E8F0"/>
                </a:solidFill>
              </a:rPr>
              <a:t>Mentor:   Dr. Bin Tang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2E8F0"/>
                </a:solidFill>
              </a:rPr>
              <a:t>Sponsor:  Cedars-Sinai AI Campus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2E8F0"/>
                </a:solidFill>
              </a:rPr>
              <a:t>Term:     CSUDH Spring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0" y="1828800"/>
            <a:ext cx="2834640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98280" y="1938528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9,523
Reports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3383280"/>
            <a:ext cx="2834640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3493008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35
Cancer Types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4937760"/>
            <a:ext cx="2834640" cy="12801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5047488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96.36%
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75569"/>
                </a:solidFill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810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7DD3FC"/>
                </a:solidFill>
              </a:rPr>
              <a:t>Why do we need MEDREx?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75569"/>
                </a:solidFill>
              </a:rPr>
              <a:t>2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548640" cy="64008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819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2137"/>
                </a:solidFill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508760"/>
            <a:ext cx="10607040" cy="640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61848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Pathology reports are unstructured, lengthy text — hard to classify at scale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548640" cy="64008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42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2137"/>
                </a:solidFill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468880"/>
            <a:ext cx="10607040" cy="640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57860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35 different cancer types with highly similar medical terminology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29000"/>
            <a:ext cx="548640" cy="64008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5021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2137"/>
                </a:solidFill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429000"/>
            <a:ext cx="10607040" cy="64008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353872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Patient data cannot be sent to cloud APIs like OpenAI — HIPAA violation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89120"/>
            <a:ext cx="548640" cy="64008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4622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2137"/>
                </a:solidFill>
              </a:rPr>
              <a:t>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389120"/>
            <a:ext cx="10607040" cy="64008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49884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LLMs hallucinate — they generate confident but wrong answers with no citations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349240"/>
            <a:ext cx="548640" cy="64008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4223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2137"/>
                </a:solidFill>
              </a:rPr>
              <a:t>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5349240"/>
            <a:ext cx="10607040" cy="64008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545896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Clinicians need explainable, evidence-grounded results — not black-box answers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7DD3FC"/>
                </a:solidFill>
              </a:rPr>
              <a:t>MEDREx Solution: Compare 5 NLP methods → Find best approach → Build RAG pipeline that is accurate, local, and explainable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 — TCGA Pathology Reports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810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7DD3FC"/>
                </a:solidFill>
              </a:rPr>
              <a:t>The Cancer Genome Atlas (National Cancer Institute)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75569"/>
                </a:solidFill>
              </a:rPr>
              <a:t>3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3566160" cy="1737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7DD3FC"/>
                </a:solidFill>
              </a:rPr>
              <a:t>9,523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2E8F0"/>
                </a:solidFill>
              </a:rPr>
              <a:t>Total Pathology Reports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508760"/>
            <a:ext cx="3566160" cy="1737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9164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7DD3FC"/>
                </a:solidFill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5146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2E8F0"/>
                </a:solidFill>
              </a:rPr>
              <a:t>Cancer Types (Classes)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508760"/>
            <a:ext cx="3566160" cy="1737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69164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7DD3FC"/>
                </a:solidFill>
              </a:rPr>
              <a:t>560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5146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2E8F0"/>
                </a:solidFill>
              </a:rPr>
              <a:t>Avg Words per Report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11879"/>
            <a:ext cx="3566160" cy="1737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94759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97316"/>
                </a:solidFill>
              </a:rPr>
              <a:t>42.7%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17719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2E8F0"/>
                </a:solidFill>
              </a:rPr>
              <a:t>Reports &gt; 512 words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611879"/>
            <a:ext cx="3566160" cy="1737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3794759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97316"/>
                </a:solidFill>
              </a:rPr>
              <a:t>24×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617719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2E8F0"/>
                </a:solidFill>
              </a:rPr>
              <a:t>Class Imbalance Ratio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611879"/>
            <a:ext cx="3566160" cy="1737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3794759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22C55E"/>
                </a:solidFill>
              </a:rPr>
              <a:t>96.36%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617719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2E8F0"/>
                </a:solidFill>
              </a:rPr>
              <a:t>TF-IDF Accuracy Achieved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852160"/>
            <a:ext cx="11274552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2E8F0"/>
                </a:solidFill>
              </a:rPr>
              <a:t>Largest class: BRCA — 1,034 reports   |   Smallest class: CHOL — 43 reports   |   Handled with class_weight='balanced' in model training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810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7DD3FC"/>
                </a:solidFill>
              </a:rPr>
              <a:t>FastAPI backend + Streamlit UI + ChromaDB vector 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75569"/>
                </a:solidFill>
              </a:rPr>
              <a:t>4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657600" cy="3657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7DD3FC"/>
                </a:solidFill>
              </a:rPr>
              <a:t>① DATA INGESTION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3291840" cy="1905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FFFFF"/>
                </a:solidFill>
              </a:rPr>
              <a:t>• 9,523 TCGA pathology reports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FFFFF"/>
                </a:solidFill>
              </a:rPr>
              <a:t>• Sentence-transformer embeddings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FFFFF"/>
                </a:solidFill>
              </a:rPr>
              <a:t>• all-MiniLM-L6-v2 (384-dim)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FFFFF"/>
                </a:solidFill>
              </a:rPr>
              <a:t>• Stored in ChromaDB (disk)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9392" y="1463040"/>
            <a:ext cx="3657600" cy="36576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9392" y="16002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86EFAC"/>
                </a:solidFill>
              </a:rPr>
              <a:t>② RETRIEVAL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62272" y="2057400"/>
            <a:ext cx="3291840" cy="1905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219456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FFFFF"/>
                </a:solidFill>
              </a:rPr>
              <a:t>• ChromaDB vector search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FFFFF"/>
                </a:solidFill>
              </a:rPr>
              <a:t>• Cosine similarity query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FFFFF"/>
                </a:solidFill>
              </a:rPr>
              <a:t>• Top-k similar reports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FFFFF"/>
                </a:solidFill>
              </a:rPr>
              <a:t>• Persistent — loads instantly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3024" y="1463040"/>
            <a:ext cx="3657600" cy="36576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3024" y="16002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DBA74"/>
                </a:solidFill>
              </a:rPr>
              <a:t>③ GENERATION (Planned)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75904" y="2057400"/>
            <a:ext cx="3291840" cy="19050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219456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FFFFF"/>
                </a:solidFill>
              </a:rPr>
              <a:t>• LLM receives similar cases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FFFFF"/>
                </a:solidFill>
              </a:rPr>
              <a:t>• Evidence-grounded response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FFFFF"/>
                </a:solidFill>
              </a:rPr>
              <a:t>• No hallucination risk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FFFFFF"/>
                </a:solidFill>
              </a:rPr>
              <a:t>• 100% HIPAA safe (local)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5072" y="3017520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7DD3FC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8704" y="3017520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7DD3FC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349240"/>
            <a:ext cx="114300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4132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2E8F0"/>
                </a:solidFill>
              </a:rPr>
              <a:t>Tech Stack:  Python  •  FastAPI  •  Streamlit  •  ChromaDB  •  sentence-transformers  •  scikit-learn  •  LangChain (planned)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989320"/>
            <a:ext cx="11430000" cy="59436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05332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Why not just use ChatGPT?  →  HIPAA prohibits sending real patient data to external APIs.  Also: academic goal is to scientifically compare methods.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Accuracy is Calculated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810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7DD3FC"/>
                </a:solidFill>
              </a:rPr>
              <a:t>Train / Test Split → Predictions →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75569"/>
                </a:solidFill>
              </a:rPr>
              <a:t>5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1737360" cy="1920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6002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DD3FC"/>
                </a:solidFill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Load All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3774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</a:rPr>
              <a:t>9,523 reports
with cancer type labels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8" y="2194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DD3FC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58568" y="1508760"/>
            <a:ext cx="1737360" cy="1920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8568" y="16002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DD3FC"/>
                </a:solidFill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8568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Split 70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3774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</a:rPr>
              <a:t>70% training set
30% test set (stratified)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8496" y="2194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DD3FC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97096" y="1508760"/>
            <a:ext cx="1737360" cy="1920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97096" y="16002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DD3FC"/>
                </a:solidFill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97096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Train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7096" y="23774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</a:rPr>
              <a:t>Model learns from
training reports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7024" y="2194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DD3FC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35624" y="1508760"/>
            <a:ext cx="1737360" cy="1920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5624" y="16002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DD3FC"/>
                </a:solidFill>
              </a:rP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5624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Predict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35624" y="23774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</a:rPr>
              <a:t>Model predicts cancer type
for each test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5552" y="2194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DD3FC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74152" y="1508760"/>
            <a:ext cx="1737360" cy="1920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74152" y="16002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DD3FC"/>
                </a:solidFill>
              </a:rPr>
              <a:t>STEP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74152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Compare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74152" y="23774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</a:rPr>
              <a:t>Compare prediction
vs true label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194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DD3FC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12680" y="1508760"/>
            <a:ext cx="1737360" cy="19202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12680" y="16002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DD3FC"/>
                </a:solidFill>
              </a:rPr>
              <a:t>STEP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23774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</a:rPr>
              <a:t>Count correct ÷ total
= Accuracy 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703320"/>
            <a:ext cx="11430000" cy="2540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3886200"/>
            <a:ext cx="3566160" cy="2011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395020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2C55E"/>
                </a:solidFill>
              </a:rPr>
              <a:t>Accuracy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443484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Correct predictions ÷ Total predictions
= 96.36% for TF-IDF + LR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60520" y="3886200"/>
            <a:ext cx="3566160" cy="2011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60520" y="395020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7DD3FC"/>
                </a:solidFill>
              </a:rPr>
              <a:t>Weighted F1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443484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Balances precision &amp; recall
across all 35 classes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01000" y="3886200"/>
            <a:ext cx="3566160" cy="2011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01000" y="395020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97316"/>
                </a:solidFill>
              </a:rPr>
              <a:t>Per-Class F1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443484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F1 score for each cancer type
Shows which types are hardest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" y="6035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DD3FC"/>
                </a:solidFill>
              </a:rPr>
              <a:t>Stratified split ensures all 35 cancer types appear in both train and test sets — prevents bias toward large classes like BRCA.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Method 1 — TF-IDF + Logistic Regression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810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7DD3FC"/>
                </a:solidFill>
              </a:rPr>
              <a:t>COMPLETED  ✓  Beats Cedars-Sinai reference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75569"/>
                </a:solidFill>
              </a:rPr>
              <a:t>6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03520" cy="292608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2E8F0"/>
                </a:solidFill>
              </a:rPr>
              <a:t>MEDREx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22C55E"/>
                </a:solidFill>
              </a:rPr>
              <a:t>96.36%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46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TF-IDF + Logistic Regression
35 cancer types  |  30% test set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463040"/>
            <a:ext cx="5303520" cy="2926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554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2E8F0"/>
                </a:solidFill>
              </a:rPr>
              <a:t>Cedars-Sinai 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92024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7DD3FC"/>
                </a:solidFill>
              </a:rPr>
              <a:t>95.31%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1546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2E8F0"/>
                </a:solidFill>
              </a:rPr>
              <a:t>BoW + Logistic Regression
32 cancer types  |  reference benchmark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262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BBF24"/>
                </a:solidFill>
              </a:rPr>
              <a:t>+1.05% improvement  |  3 more cancer types covered  |  Better TF-IDF features (15K, bigrams, sublinear_tf)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074920"/>
            <a:ext cx="356616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166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DD3FC"/>
                </a:solidFill>
              </a:rPr>
              <a:t>15,000 features  —  TfidfVectorizer max_features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5074920"/>
            <a:ext cx="356616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5166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DD3FC"/>
                </a:solidFill>
              </a:rPr>
              <a:t>Unigrams + Bigrams  —  ngram_range=(1,2)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5074920"/>
            <a:ext cx="356616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5166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DD3FC"/>
                </a:solidFill>
              </a:rPr>
              <a:t>Sublinear TF  —  sublinear_tf=True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669280"/>
            <a:ext cx="356616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760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97316"/>
                </a:solidFill>
              </a:rPr>
              <a:t>Balanced Classes  —  class_weight='balanced'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5669280"/>
            <a:ext cx="356616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5760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C55E"/>
                </a:solidFill>
              </a:rPr>
              <a:t>Stratified Split  —  train_test_split stratify=y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5669280"/>
            <a:ext cx="356616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5760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C55E"/>
                </a:solidFill>
              </a:rPr>
              <a:t>Saved to Disk  —  joblib — instant reload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ChromaDB Vector Store — COMPLETED 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810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7DD3FC"/>
                </a:solidFill>
              </a:rPr>
              <a:t>All 9,523 reports embedded and indexed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75569"/>
                </a:solidFill>
              </a:rPr>
              <a:t>7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6858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2C55E"/>
                </a:solidFill>
              </a:rPr>
              <a:t>✓  9,523 / 9,523 reports embedded  |  vector_ready: true  |  Saved permanently to disk at backend/vector_store/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77440"/>
            <a:ext cx="2011680" cy="1645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468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DD3FC"/>
                </a:solidFill>
              </a:rPr>
              <a:t>Text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8036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Pathology report
(first 1000 chars)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971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DD3FC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15184" y="2377440"/>
            <a:ext cx="2011680" cy="1645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15184" y="2468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DD3FC"/>
                </a:solidFill>
              </a:rPr>
              <a:t>Encode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88036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all-MiniLM-L6-v2
384-dim vector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971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DD3FC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64608" y="2377440"/>
            <a:ext cx="2011680" cy="1645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4608" y="2468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DD3FC"/>
                </a:solidFill>
              </a:rPr>
              <a:t>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608" y="288036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ChromaDB saves
vector + metadata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0568" y="2971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DD3FC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14032" y="2377440"/>
            <a:ext cx="2011680" cy="1645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4032" y="2468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DD3FC"/>
                </a:solidFill>
              </a:rPr>
              <a:t>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288036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New report → encode
→ cosine 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9992" y="2971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DD3FC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63456" y="2377440"/>
            <a:ext cx="2011680" cy="1645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63456" y="2468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DD3FC"/>
                </a:solidFill>
              </a:rPr>
              <a:t>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63456" y="288036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Top-k similar
reports returned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251960"/>
            <a:ext cx="3657600" cy="2423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3616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DD3FC"/>
                </a:solidFill>
              </a:rPr>
              <a:t>Why ChromaDB?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727448"/>
            <a:ext cx="3474720" cy="1905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80060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</a:rPr>
              <a:t>Persists to disk — no re-embedding on restart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</a:rPr>
              <a:t>Runs 100% locally — HIPAA safe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</a:rPr>
              <a:t>Cosine similarity search built-in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</a:rPr>
              <a:t>Stores metadata (cancer_type, word_count)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</a:rPr>
              <a:t>Scales to millions of documents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24528" y="4251960"/>
            <a:ext cx="3657600" cy="24231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1688" y="43616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</a:rPr>
              <a:t>What it enables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15968" y="4727448"/>
            <a:ext cx="3474720" cy="1905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61688" y="480060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</a:rPr>
              <a:t>Embedding Similarity method (Method 4)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</a:rPr>
              <a:t>RAG pipeline — retrieve similar cases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</a:rPr>
              <a:t>Pass as context to LLM (Method 5)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</a:rPr>
              <a:t>Semantic search across 9,523 reports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</a:rPr>
              <a:t>Majority-vote prediction from top-k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83296" y="4251960"/>
            <a:ext cx="3657600" cy="2423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0456" y="43616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DD3FC"/>
                </a:solidFill>
              </a:rPr>
              <a:t>Embedding Model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74736" y="4727448"/>
            <a:ext cx="3474720" cy="1905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0456" y="480060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</a:rPr>
              <a:t>Model: all-MiniLM-L6-v2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</a:rPr>
              <a:t>Size: ~80MB — runs on CPU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</a:rPr>
              <a:t>Output: 384-dimensional vector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</a:rPr>
              <a:t>Distance: cosine (0=identical)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</a:rPr>
              <a:t>Medical domain: BioBERT available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Per-Class F1 Analysis — TF-IDF + LR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810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7DD3FC"/>
                </a:solidFill>
              </a:rPr>
              <a:t>Which cancer types are hardest to classify,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75569"/>
                </a:solidFill>
              </a:rPr>
              <a:t>8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HARDEST TO PREDICT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685800" cy="640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65959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UCS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40" y="1874519"/>
            <a:ext cx="685800" cy="640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965959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F4444"/>
                </a:solidFill>
              </a:rPr>
              <a:t>0.80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0116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Uterine Carcinosarcoma  —  Similar to UCEC — overlapping pathology language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97479"/>
            <a:ext cx="685800" cy="640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88919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4440" y="2697479"/>
            <a:ext cx="685800" cy="640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2788919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F4444"/>
                </a:solidFill>
              </a:rPr>
              <a:t>0.84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8346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Rectum Adenocarcinoma  —  Very similar to COAD (Colon) — nearly identical reports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20439"/>
            <a:ext cx="685800" cy="6400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611879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LUSC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34440" y="3520439"/>
            <a:ext cx="685800" cy="640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3611879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97316"/>
                </a:solidFill>
              </a:rPr>
              <a:t>0.91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65759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Lung squamous cell carcinoma  —  Overlaps with LUAD — both lung, different cell 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34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BEST PREDICTED (F1 = 1.00)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46320"/>
            <a:ext cx="1371600" cy="4572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9194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</a:rPr>
              <a:t>BRCA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0" y="4846320"/>
            <a:ext cx="1371600" cy="4572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0" y="49194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</a:rPr>
              <a:t>DLBC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4846320"/>
            <a:ext cx="1371600" cy="4572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49194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</a:rPr>
              <a:t>MESO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4846320"/>
            <a:ext cx="1371600" cy="4572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49194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</a:rPr>
              <a:t>PRAD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413248"/>
            <a:ext cx="1371600" cy="4572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486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</a:rPr>
              <a:t>TGCT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11680" y="5413248"/>
            <a:ext cx="1371600" cy="4572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11680" y="5486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</a:rPr>
              <a:t>UVM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5413248"/>
            <a:ext cx="1371600" cy="4572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0" y="5486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</a:rPr>
              <a:t>LAML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20640" y="5413248"/>
            <a:ext cx="1371600" cy="4572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0" y="5486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</a:rPr>
              <a:t>PCPG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75120" y="1463040"/>
            <a:ext cx="5029200" cy="5212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DD3FC"/>
                </a:solidFill>
              </a:rPr>
              <a:t>Why this matters for MEDREx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21031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</a:rPr>
              <a:t>→  UCS &amp; READ have very similar language to neighboring cancer types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</a:rPr>
              <a:t>→  TF-IDF uses word frequency — misses semantic meaning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</a:rPr>
              <a:t>→  BERT understands context — expected to fix these hard cases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</a:rPr>
              <a:t>→  RAG retrieves the most similar cases — if the similar cases are correct, the prediction improves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</a:rPr>
              <a:t>→  This analysis scientifically justifies why we need BERT and RAG beyond TF-IDF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5-Method Comparison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810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7DD3FC"/>
                </a:solidFill>
              </a:rPr>
              <a:t>Scientific justification for the MEDREx RAG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75569"/>
                </a:solidFill>
              </a:rPr>
              <a:t>9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457200" cy="804672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276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463040"/>
            <a:ext cx="4389120" cy="804672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17904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TF-IDF + Logistic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01952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Weighted word importance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1463040"/>
            <a:ext cx="1920240" cy="8046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16642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2E8F0"/>
                </a:solidFill>
              </a:rPr>
              <a:t>Traditional 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463040"/>
            <a:ext cx="1554480" cy="804672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66420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</a:rPr>
              <a:t>DONE 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1463040"/>
            <a:ext cx="1371600" cy="8046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62763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2C55E"/>
                </a:solidFill>
              </a:rPr>
              <a:t>96.36%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0" y="1463040"/>
            <a:ext cx="155448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0" y="1664208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Fast, explainable, no GPU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450592"/>
            <a:ext cx="457200" cy="8046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61518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2450592"/>
            <a:ext cx="4389120" cy="8046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2505456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TF-IDF + SVM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2889504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Support Vector Machine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2450592"/>
            <a:ext cx="1920240" cy="8046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26517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2E8F0"/>
                </a:solidFill>
              </a:rPr>
              <a:t>Traditional ML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2450592"/>
            <a:ext cx="1554480" cy="8046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</a:rPr>
              <a:t>NEXT 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2450592"/>
            <a:ext cx="1371600" cy="8046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261518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BBF24"/>
                </a:solidFill>
              </a:rPr>
              <a:t>TBD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15600" y="2450592"/>
            <a:ext cx="155448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0" y="26517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Often beats LR on text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438144"/>
            <a:ext cx="457200" cy="8046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60273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3438144"/>
            <a:ext cx="4389120" cy="8046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349300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BERT (Bio_ClinicalBERT)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3877056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Understands medical context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94960" y="3438144"/>
            <a:ext cx="1920240" cy="8046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94960" y="363931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2E8F0"/>
                </a:solidFill>
              </a:rPr>
              <a:t>Transformer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06640" y="3438144"/>
            <a:ext cx="1554480" cy="8046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06640" y="36393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DD3FC"/>
                </a:solidFill>
              </a:rPr>
              <a:t>PLANNED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52560" y="3438144"/>
            <a:ext cx="1371600" cy="8046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52560" y="360273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DD3FC"/>
                </a:solidFill>
              </a:rPr>
              <a:t>TBD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15600" y="3438144"/>
            <a:ext cx="155448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15600" y="363931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Fix hard cases: UCS, READ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425696"/>
            <a:ext cx="457200" cy="804672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45902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4425696"/>
            <a:ext cx="4389120" cy="804672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" y="448056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Embedding Similarity (k-NN)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" y="486460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ChromaDB built &amp; ready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94960" y="4425696"/>
            <a:ext cx="1920240" cy="8046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94960" y="462686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2E8F0"/>
                </a:solidFill>
              </a:rPr>
              <a:t>Semantic Search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06640" y="4425696"/>
            <a:ext cx="1554480" cy="804672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06640" y="462686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</a:rPr>
              <a:t>READY 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52560" y="4425696"/>
            <a:ext cx="1371600" cy="8046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52560" y="45902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2C55E"/>
                </a:solidFill>
              </a:rPr>
              <a:t>TBD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515600" y="4425696"/>
            <a:ext cx="155448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15600" y="4626864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Cosine similarity vote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5413248"/>
            <a:ext cx="457200" cy="8046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5577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5413248"/>
            <a:ext cx="4389120" cy="8046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5840" y="546811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RAG + LLM (MEDREx Core)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840" y="5852160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Retrieve cases → LLM generates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394960" y="5413248"/>
            <a:ext cx="1920240" cy="8046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94960" y="561441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2E8F0"/>
                </a:solidFill>
              </a:rPr>
              <a:t>LLM + Retrieval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06640" y="5413248"/>
            <a:ext cx="1554480" cy="8046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06640" y="561441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7316"/>
                </a:solidFill>
              </a:rPr>
              <a:t>PLANNED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52560" y="5413248"/>
            <a:ext cx="1371600" cy="8046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52560" y="5577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</a:rPr>
              <a:t>TBD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515600" y="5413248"/>
            <a:ext cx="155448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515600" y="5614416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Evidence-grounded answer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123444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75569"/>
                </a:solidFill>
              </a:rPr>
              <a:t>#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123444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75569"/>
                </a:solidFill>
              </a:rPr>
              <a:t>Method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94960" y="12344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75569"/>
                </a:solidFill>
              </a:rPr>
              <a:t>Category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06640" y="123444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75569"/>
                </a:solidFill>
              </a:rPr>
              <a:t>Status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52560" y="12344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75569"/>
                </a:solidFill>
              </a:rPr>
              <a:t>Accuracy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515600" y="123444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75569"/>
                </a:solidFill>
              </a:rPr>
              <a:t>Notes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Upcoming Plan — What's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810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7DD3FC"/>
                </a:solidFill>
              </a:rPr>
              <a:t>Phases to complete for thesis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75569"/>
                </a:solidFill>
              </a:rPr>
              <a:t>10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566160" cy="3840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97316"/>
                </a:solidFill>
              </a:rPr>
              <a:t>Phase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TF-IDF + SVM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3383280" cy="190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E2E8F0"/>
                </a:solidFill>
              </a:rPr>
              <a:t>• Add LinearSVC as Method 2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E2E8F0"/>
                </a:solidFill>
              </a:rPr>
              <a:t>• Compare vs LR on same test set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E2E8F0"/>
                </a:solidFill>
              </a:rPr>
              <a:t>• Expected: 94–97% accuracy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E2E8F0"/>
                </a:solidFill>
              </a:rPr>
              <a:t>• Complete comparison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463040"/>
            <a:ext cx="3566160" cy="3840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554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DD3FC"/>
                </a:solidFill>
              </a:rP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965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BERT Fine-tuning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331720"/>
            <a:ext cx="3383280" cy="1905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246888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E2E8F0"/>
                </a:solidFill>
              </a:rPr>
              <a:t>• Bio_ClinicalBERT or ClinicalBigBird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E2E8F0"/>
                </a:solidFill>
              </a:rPr>
              <a:t>• Fine-tune on 35-class task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E2E8F0"/>
                </a:solidFill>
              </a:rPr>
              <a:t>• Needs GPU (Google Colab)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E2E8F0"/>
                </a:solidFill>
              </a:rPr>
              <a:t>• Expected to fix UCS, READ hard cases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463040"/>
            <a:ext cx="3566160" cy="3840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554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C55E"/>
                </a:solidFill>
              </a:rPr>
              <a:t>Phase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965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Embedding Similarity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331720"/>
            <a:ext cx="3383280" cy="190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246888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E2E8F0"/>
                </a:solidFill>
              </a:rPr>
              <a:t>• ChromaDB is 100% READY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E2E8F0"/>
                </a:solidFill>
              </a:rPr>
              <a:t>• Run k-NN classification experiment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E2E8F0"/>
                </a:solidFill>
              </a:rPr>
              <a:t>• Compare accuracy vs TF-IDF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E2E8F0"/>
                </a:solidFill>
              </a:rPr>
              <a:t>• Majority vote from top-5 similar cases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486400"/>
            <a:ext cx="11430000" cy="109728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5595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97316"/>
                </a:solidFill>
              </a:rPr>
              <a:t>Phase 5 — RAG + LLM (MEDREx Core)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Retrieve top-k similar cases from ChromaDB  →  Pass as context to local LLM (LLaMA / BioMedLM)  →  Generate evidence-grounded answer  →  Full MEDREx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Summary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810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7DD3FC"/>
                </a:solidFill>
              </a:rPr>
              <a:t>What's been done, what's coming, and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75569"/>
                </a:solidFill>
              </a:rPr>
              <a:t>11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94960" cy="438912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</a:rPr>
              <a:t>COMPLETED 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5166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FFFFFF"/>
                </a:solidFill>
              </a:rPr>
              <a:t>✓  Built FastAPI + Streamlit demo UI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FFFFFF"/>
                </a:solidFill>
              </a:rPr>
              <a:t>✓  TF-IDF + LR: 96.36% accuracy (beats reference)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FFFFFF"/>
                </a:solidFill>
              </a:rPr>
              <a:t>✓  ChromaDB: 9,523 reports fully embedded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FFFFFF"/>
                </a:solidFill>
              </a:rPr>
              <a:t>✓  Per-class F1 analysis across 35 cancer types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FFFFFF"/>
                </a:solidFill>
              </a:rPr>
              <a:t>✓  5-method evaluation framework defined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63040"/>
            <a:ext cx="5394960" cy="4389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5544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DD3FC"/>
                </a:solidFill>
              </a:rPr>
              <a:t>UPCOMING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011680"/>
            <a:ext cx="5166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E2E8F0"/>
                </a:solidFill>
              </a:rPr>
              <a:t>→  TF-IDF + SVM (Method 2)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E2E8F0"/>
                </a:solidFill>
              </a:rPr>
              <a:t>→  BERT fine-tuning (Method 3)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E2E8F0"/>
                </a:solidFill>
              </a:rPr>
              <a:t>→  Embedding Similarity experiment (Method 4)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E2E8F0"/>
                </a:solidFill>
              </a:rPr>
              <a:t>→  RAG + LLM full pipeline (Method 5)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E2E8F0"/>
                </a:solidFill>
              </a:rPr>
              <a:t>→  Masters thesis write-up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989320"/>
            <a:ext cx="1143000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062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7DD3FC"/>
                </a:solidFill>
              </a:rPr>
              <a:t>"MEDREx demonstrates that combining classical NLP with semantic search and LLM reasoning produces a HIPAA-safe, explainable, and accurate clinical decision support system."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