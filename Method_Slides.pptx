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BoW vs TF-IDF vs Logistic Regression — Explained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58368"/>
            <a:ext cx="109728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0" i="0">
                <a:solidFill>
                  <a:srgbClr val="A8C8E8"/>
                </a:solidFill>
              </a:rPr>
              <a:t>How the reference pipeline works and how we improved it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1143000"/>
            <a:ext cx="3566160" cy="5349240"/>
          </a:xfrm>
          <a:prstGeom prst="rect">
            <a:avLst/>
          </a:prstGeom>
          <a:solidFill>
            <a:srgbClr val="FFEDD5"/>
          </a:solidFill>
          <a:ln w="19050">
            <a:solidFill>
              <a:srgbClr val="EA58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234440"/>
            <a:ext cx="329184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 i="0">
                <a:solidFill>
                  <a:srgbClr val="EA580C"/>
                </a:solidFill>
              </a:rPr>
              <a:t>Bag of Words  (BoW)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627632"/>
            <a:ext cx="329184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 i="1">
                <a:solidFill>
                  <a:srgbClr val="475569"/>
                </a:solidFill>
              </a:rPr>
              <a:t>Used by Cedars-Sinai reference</a:t>
            </a:r>
          </a:p>
        </p:txBody>
      </p:sp>
      <p:sp>
        <p:nvSpPr>
          <p:cNvPr id="8" name="Rectangle 7"/>
          <p:cNvSpPr/>
          <p:nvPr/>
        </p:nvSpPr>
        <p:spPr>
          <a:xfrm>
            <a:off x="411480" y="1920240"/>
            <a:ext cx="3383280" cy="19050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2029968"/>
            <a:ext cx="329184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2103120"/>
            <a:ext cx="310896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 i="1">
                <a:solidFill>
                  <a:srgbClr val="1E293B"/>
                </a:solidFill>
              </a:rPr>
              <a:t>"The tumor is invasive. The tumor is large."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2697480"/>
            <a:ext cx="32918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 i="0">
                <a:solidFill>
                  <a:srgbClr val="1E293B"/>
                </a:solidFill>
              </a:rPr>
              <a:t>Counts how many times each word appears: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3063240"/>
            <a:ext cx="594360" cy="320040"/>
          </a:xfrm>
          <a:prstGeom prst="rect">
            <a:avLst/>
          </a:prstGeom>
          <a:solidFill>
            <a:srgbClr val="E0E7F1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" y="3081528"/>
            <a:ext cx="5943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1" i="0">
                <a:solidFill>
                  <a:srgbClr val="1E3A5F"/>
                </a:solidFill>
              </a:rPr>
              <a:t>the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3401568"/>
            <a:ext cx="594360" cy="29260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" y="3419856"/>
            <a:ext cx="5943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1" i="0">
                <a:solidFill>
                  <a:srgbClr val="EA580C"/>
                </a:solidFill>
              </a:rPr>
              <a:t>2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115568" y="3063240"/>
            <a:ext cx="594360" cy="320040"/>
          </a:xfrm>
          <a:prstGeom prst="rect">
            <a:avLst/>
          </a:prstGeom>
          <a:solidFill>
            <a:srgbClr val="E0E7F1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115568" y="3081528"/>
            <a:ext cx="5943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1" i="0">
                <a:solidFill>
                  <a:srgbClr val="1E3A5F"/>
                </a:solidFill>
              </a:rPr>
              <a:t>tumor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115568" y="3401568"/>
            <a:ext cx="594360" cy="29260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115568" y="3419856"/>
            <a:ext cx="5943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1" i="0">
                <a:solidFill>
                  <a:srgbClr val="EA580C"/>
                </a:solidFill>
              </a:rPr>
              <a:t>2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773936" y="3063240"/>
            <a:ext cx="594360" cy="320040"/>
          </a:xfrm>
          <a:prstGeom prst="rect">
            <a:avLst/>
          </a:prstGeom>
          <a:solidFill>
            <a:srgbClr val="E0E7F1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773936" y="3081528"/>
            <a:ext cx="5943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1" i="0">
                <a:solidFill>
                  <a:srgbClr val="1E3A5F"/>
                </a:solidFill>
              </a:rPr>
              <a:t>is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773936" y="3401568"/>
            <a:ext cx="594360" cy="29260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773936" y="3419856"/>
            <a:ext cx="5943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1" i="0">
                <a:solidFill>
                  <a:srgbClr val="EA580C"/>
                </a:solidFill>
              </a:rPr>
              <a:t>2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432304" y="3063240"/>
            <a:ext cx="594360" cy="320040"/>
          </a:xfrm>
          <a:prstGeom prst="rect">
            <a:avLst/>
          </a:prstGeom>
          <a:solidFill>
            <a:srgbClr val="E0E7F1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432304" y="3081528"/>
            <a:ext cx="5943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1" i="0">
                <a:solidFill>
                  <a:srgbClr val="1E3A5F"/>
                </a:solidFill>
              </a:rPr>
              <a:t>invasive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432304" y="3401568"/>
            <a:ext cx="594360" cy="29260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432304" y="3419856"/>
            <a:ext cx="5943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1" i="0">
                <a:solidFill>
                  <a:srgbClr val="EA580C"/>
                </a:solidFill>
              </a:rPr>
              <a:t>1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090672" y="3063240"/>
            <a:ext cx="594360" cy="320040"/>
          </a:xfrm>
          <a:prstGeom prst="rect">
            <a:avLst/>
          </a:prstGeom>
          <a:solidFill>
            <a:srgbClr val="E0E7F1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090672" y="3081528"/>
            <a:ext cx="5943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1" i="0">
                <a:solidFill>
                  <a:srgbClr val="1E3A5F"/>
                </a:solidFill>
              </a:rPr>
              <a:t>large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090672" y="3401568"/>
            <a:ext cx="594360" cy="29260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090672" y="3419856"/>
            <a:ext cx="5943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1" i="0">
                <a:solidFill>
                  <a:srgbClr val="EA580C"/>
                </a:solidFill>
              </a:rPr>
              <a:t>1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7200" y="3822191"/>
            <a:ext cx="32918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 i="1">
                <a:solidFill>
                  <a:srgbClr val="DC2626"/>
                </a:solidFill>
              </a:rPr>
              <a:t>Problem: 'the' and 'tumor' both count = 2
but 'the' tells us NOTHING about cancer type!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7200" y="4462272"/>
            <a:ext cx="32918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EA580C"/>
                </a:solidFill>
              </a:rPr>
              <a:t>Weaknesses of BoW: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1E293B"/>
                </a:solidFill>
              </a:rPr>
              <a:t>  Common words (the, is, a) inflate counts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1E293B"/>
                </a:solidFill>
              </a:rPr>
              <a:t>  Rare but important words get buried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1E293B"/>
                </a:solidFill>
              </a:rPr>
              <a:t>  All words treated equally — no importance ranking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EA580C"/>
                </a:solidFill>
              </a:rPr>
              <a:t>  Result: 95.31% on 32 classes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160520" y="1143000"/>
            <a:ext cx="3566160" cy="5349240"/>
          </a:xfrm>
          <a:prstGeom prst="rect">
            <a:avLst/>
          </a:prstGeom>
          <a:solidFill>
            <a:srgbClr val="EFF6FF"/>
          </a:solidFill>
          <a:ln w="19050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297680" y="1234440"/>
            <a:ext cx="329184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 i="0">
                <a:solidFill>
                  <a:srgbClr val="1E3A5F"/>
                </a:solidFill>
              </a:rPr>
              <a:t>TF-IDF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297680" y="1627632"/>
            <a:ext cx="329184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 i="1">
                <a:solidFill>
                  <a:srgbClr val="475569"/>
                </a:solidFill>
              </a:rPr>
              <a:t>Term Frequency - Inverse Document Frequency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206240" y="1920240"/>
            <a:ext cx="3383280" cy="1905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297680" y="2029968"/>
            <a:ext cx="32918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1" i="0">
                <a:solidFill>
                  <a:srgbClr val="1E3A5F"/>
                </a:solidFill>
              </a:rPr>
              <a:t>TF  (Term Frequency):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297680" y="2331720"/>
            <a:ext cx="329184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 i="0">
                <a:solidFill>
                  <a:srgbClr val="1E293B"/>
                </a:solidFill>
              </a:rPr>
              <a:t>How often does this word appear in THIS report?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297680" y="2761488"/>
            <a:ext cx="32918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1" i="0">
                <a:solidFill>
                  <a:srgbClr val="1E3A5F"/>
                </a:solidFill>
              </a:rPr>
              <a:t>IDF  (Inverse Document Frequency):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297680" y="3063240"/>
            <a:ext cx="3291840" cy="4754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 i="0">
                <a:solidFill>
                  <a:srgbClr val="1E293B"/>
                </a:solidFill>
              </a:rPr>
              <a:t>How RARE is this word across ALL reports?
Rare = more important. Common = less important.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297680" y="3657600"/>
            <a:ext cx="329184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 b="1" i="0">
                <a:solidFill>
                  <a:srgbClr val="1E3A5F"/>
                </a:solidFill>
              </a:rPr>
              <a:t>TF-IDF Score  =  TF  x  IDF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297680" y="4133087"/>
            <a:ext cx="3291840" cy="548640"/>
          </a:xfrm>
          <a:prstGeom prst="rect">
            <a:avLst/>
          </a:prstGeom>
          <a:solidFill>
            <a:srgbClr val="FEE2E2"/>
          </a:solidFill>
          <a:ln w="1270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389120" y="4242815"/>
            <a:ext cx="3108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1" i="0">
                <a:solidFill>
                  <a:srgbClr val="DC2626"/>
                </a:solidFill>
              </a:rPr>
              <a:t>"the"  HIGH TF x LOW IDF = LOW score</a:t>
            </a:r>
          </a:p>
        </p:txBody>
      </p:sp>
      <p:sp>
        <p:nvSpPr>
          <p:cNvPr id="45" name="Rectangle 44"/>
          <p:cNvSpPr/>
          <p:nvPr/>
        </p:nvSpPr>
        <p:spPr>
          <a:xfrm>
            <a:off x="4297680" y="4791455"/>
            <a:ext cx="3291840" cy="548640"/>
          </a:xfrm>
          <a:prstGeom prst="rect">
            <a:avLst/>
          </a:prstGeom>
          <a:solidFill>
            <a:srgbClr val="DCFCE7"/>
          </a:solidFill>
          <a:ln w="1270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4389120" y="4901183"/>
            <a:ext cx="3108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1" i="0">
                <a:solidFill>
                  <a:srgbClr val="16A34A"/>
                </a:solidFill>
              </a:rPr>
              <a:t>"adenocarcinoma"  MED TF x HIGH IDF = HIGH score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297680" y="5074920"/>
            <a:ext cx="32918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1E3A5F"/>
                </a:solidFill>
              </a:rPr>
              <a:t>Advantages over BoW: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1E293B"/>
                </a:solidFill>
              </a:rPr>
              <a:t>  Common words auto-downweighted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1E293B"/>
                </a:solidFill>
              </a:rPr>
              <a:t>  Medical terms like 'adenocarcinoma' ranked HIGH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1E293B"/>
                </a:solidFill>
              </a:rPr>
              <a:t>  15,000 features + bigrams (word pairs)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16A34A"/>
                </a:solidFill>
              </a:rPr>
              <a:t>  Result: 96.36% on 35 classes (beats ref)</a:t>
            </a:r>
          </a:p>
        </p:txBody>
      </p:sp>
      <p:sp>
        <p:nvSpPr>
          <p:cNvPr id="48" name="Rectangle 47"/>
          <p:cNvSpPr/>
          <p:nvPr/>
        </p:nvSpPr>
        <p:spPr>
          <a:xfrm>
            <a:off x="8001000" y="1143000"/>
            <a:ext cx="3840480" cy="5349240"/>
          </a:xfrm>
          <a:prstGeom prst="rect">
            <a:avLst/>
          </a:prstGeom>
          <a:solidFill>
            <a:srgbClr val="EDE9FE"/>
          </a:solidFill>
          <a:ln w="1905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8138160" y="1234440"/>
            <a:ext cx="356616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 i="0">
                <a:solidFill>
                  <a:srgbClr val="7C3AED"/>
                </a:solidFill>
              </a:rPr>
              <a:t>Logistic Regression  (LR)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138160" y="1627632"/>
            <a:ext cx="35661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 i="1">
                <a:solidFill>
                  <a:srgbClr val="475569"/>
                </a:solidFill>
              </a:rPr>
              <a:t>The classifier — makes the final decision</a:t>
            </a:r>
          </a:p>
        </p:txBody>
      </p:sp>
      <p:sp>
        <p:nvSpPr>
          <p:cNvPr id="51" name="Rectangle 50"/>
          <p:cNvSpPr/>
          <p:nvPr/>
        </p:nvSpPr>
        <p:spPr>
          <a:xfrm>
            <a:off x="8046720" y="1920240"/>
            <a:ext cx="3657600" cy="1905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8138160" y="2029968"/>
            <a:ext cx="356616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1" i="0">
                <a:solidFill>
                  <a:srgbClr val="7C3AED"/>
                </a:solidFill>
              </a:rPr>
              <a:t>What it does: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138160" y="2359152"/>
            <a:ext cx="35661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100" b="0" i="0">
                <a:solidFill>
                  <a:srgbClr val="1E293B"/>
                </a:solidFill>
              </a:rPr>
              <a:t>Takes the TF-IDF numbers as input.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100" b="0" i="0">
                <a:solidFill>
                  <a:srgbClr val="1E293B"/>
                </a:solidFill>
              </a:rPr>
              <a:t>Learns which words strongly predict each cancer type.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100" b="0" i="0">
                <a:solidFill>
                  <a:srgbClr val="1E293B"/>
                </a:solidFill>
              </a:rPr>
              <a:t>Outputs a probability for all 35 classes.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100" b="0" i="0">
                <a:solidFill>
                  <a:srgbClr val="1E293B"/>
                </a:solidFill>
              </a:rPr>
              <a:t>Picks the class with the highest probability.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138160" y="3749039"/>
            <a:ext cx="356616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1" i="0">
                <a:solidFill>
                  <a:srgbClr val="7C3AED"/>
                </a:solidFill>
              </a:rPr>
              <a:t>Full pipeline:</a:t>
            </a:r>
          </a:p>
        </p:txBody>
      </p:sp>
      <p:sp>
        <p:nvSpPr>
          <p:cNvPr id="55" name="Rectangle 54"/>
          <p:cNvSpPr/>
          <p:nvPr/>
        </p:nvSpPr>
        <p:spPr>
          <a:xfrm>
            <a:off x="8138160" y="4114800"/>
            <a:ext cx="356616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8138160" y="4206240"/>
            <a:ext cx="35661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1" i="0">
                <a:solidFill>
                  <a:srgbClr val="1E293B"/>
                </a:solidFill>
              </a:rPr>
              <a:t>Report Text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9646920" y="4590288"/>
            <a:ext cx="2743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0" i="0">
                <a:solidFill>
                  <a:srgbClr val="475569"/>
                </a:solidFill>
              </a:rPr>
              <a:t>v</a:t>
            </a:r>
          </a:p>
        </p:txBody>
      </p:sp>
      <p:sp>
        <p:nvSpPr>
          <p:cNvPr id="58" name="Rectangle 57"/>
          <p:cNvSpPr/>
          <p:nvPr/>
        </p:nvSpPr>
        <p:spPr>
          <a:xfrm>
            <a:off x="8138160" y="4709160"/>
            <a:ext cx="3566160" cy="475488"/>
          </a:xfrm>
          <a:prstGeom prst="rect">
            <a:avLst/>
          </a:prstGeom>
          <a:solidFill>
            <a:srgbClr val="E0E7F1"/>
          </a:solidFill>
          <a:ln w="12700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8138160" y="4800600"/>
            <a:ext cx="35661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1" i="0">
                <a:solidFill>
                  <a:srgbClr val="1E3A5F"/>
                </a:solidFill>
              </a:rPr>
              <a:t>TF-IDF scores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9646920" y="5184648"/>
            <a:ext cx="2743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0" i="0">
                <a:solidFill>
                  <a:srgbClr val="475569"/>
                </a:solidFill>
              </a:rPr>
              <a:t>v</a:t>
            </a:r>
          </a:p>
        </p:txBody>
      </p:sp>
      <p:sp>
        <p:nvSpPr>
          <p:cNvPr id="61" name="Rectangle 60"/>
          <p:cNvSpPr/>
          <p:nvPr/>
        </p:nvSpPr>
        <p:spPr>
          <a:xfrm>
            <a:off x="8138160" y="5303520"/>
            <a:ext cx="3566160" cy="475488"/>
          </a:xfrm>
          <a:prstGeom prst="rect">
            <a:avLst/>
          </a:prstGeom>
          <a:solidFill>
            <a:srgbClr val="EDE9FE"/>
          </a:solidFill>
          <a:ln w="127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8138160" y="5394960"/>
            <a:ext cx="35661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1" i="0">
                <a:solidFill>
                  <a:srgbClr val="7C3AED"/>
                </a:solidFill>
              </a:rPr>
              <a:t>LR predicts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9646920" y="5779008"/>
            <a:ext cx="2743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0" i="0">
                <a:solidFill>
                  <a:srgbClr val="475569"/>
                </a:solidFill>
              </a:rPr>
              <a:t>v</a:t>
            </a:r>
          </a:p>
        </p:txBody>
      </p:sp>
      <p:sp>
        <p:nvSpPr>
          <p:cNvPr id="64" name="Rectangle 63"/>
          <p:cNvSpPr/>
          <p:nvPr/>
        </p:nvSpPr>
        <p:spPr>
          <a:xfrm>
            <a:off x="8138160" y="5897880"/>
            <a:ext cx="3566160" cy="475488"/>
          </a:xfrm>
          <a:prstGeom prst="rect">
            <a:avLst/>
          </a:prstGeom>
          <a:solidFill>
            <a:srgbClr val="DCFCE7"/>
          </a:solidFill>
          <a:ln w="1270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8138160" y="5989320"/>
            <a:ext cx="35661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1" i="0">
                <a:solidFill>
                  <a:srgbClr val="16A34A"/>
                </a:solidFill>
              </a:rPr>
              <a:t>Cancer Type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8138160" y="4937760"/>
            <a:ext cx="35661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7C3AED"/>
                </a:solidFill>
              </a:rPr>
              <a:t>Why LR works well for text: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1E293B"/>
                </a:solidFill>
              </a:rPr>
              <a:t>  Fast to train — seconds, not hours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1E293B"/>
                </a:solidFill>
              </a:rPr>
              <a:t>  Explainable — you can see which words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1E293B"/>
                </a:solidFill>
              </a:rPr>
              <a:t>  drove the prediction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1E293B"/>
                </a:solidFill>
              </a:rPr>
              <a:t>  No GPU needed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1E293B"/>
                </a:solidFill>
              </a:rPr>
              <a:t>  Baseline to beat with BERT and RAG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What the Reference Did vs What We Are Building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58368"/>
            <a:ext cx="109728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0" i="0">
                <a:solidFill>
                  <a:srgbClr val="A8C8E8"/>
                </a:solidFill>
              </a:rPr>
              <a:t>Cedars-Sinai provided a baseline — MEDREx goes significantly further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1097280"/>
            <a:ext cx="5577840" cy="411480"/>
          </a:xfrm>
          <a:prstGeom prst="rect">
            <a:avLst/>
          </a:prstGeom>
          <a:solidFill>
            <a:srgbClr val="FFEDD5"/>
          </a:solidFill>
          <a:ln w="12700">
            <a:solidFill>
              <a:srgbClr val="EA58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170432"/>
            <a:ext cx="53035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1" i="0">
                <a:solidFill>
                  <a:srgbClr val="EA580C"/>
                </a:solidFill>
              </a:rPr>
              <a:t>Cedars-Sinai Reference  (what was given to us)</a:t>
            </a:r>
          </a:p>
        </p:txBody>
      </p:sp>
      <p:sp>
        <p:nvSpPr>
          <p:cNvPr id="7" name="Rectangle 6"/>
          <p:cNvSpPr/>
          <p:nvPr/>
        </p:nvSpPr>
        <p:spPr>
          <a:xfrm>
            <a:off x="6309360" y="1097280"/>
            <a:ext cx="5577840" cy="411480"/>
          </a:xfrm>
          <a:prstGeom prst="rect">
            <a:avLst/>
          </a:prstGeom>
          <a:solidFill>
            <a:srgbClr val="EFF6FF"/>
          </a:solidFill>
          <a:ln w="12700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46520" y="1170432"/>
            <a:ext cx="53035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1" i="0">
                <a:solidFill>
                  <a:srgbClr val="1E3A5F"/>
                </a:solidFill>
              </a:rPr>
              <a:t>MEDREx  (what we are building)</a:t>
            </a:r>
          </a:p>
        </p:txBody>
      </p:sp>
      <p:sp>
        <p:nvSpPr>
          <p:cNvPr id="9" name="Rectangle 8"/>
          <p:cNvSpPr/>
          <p:nvPr/>
        </p:nvSpPr>
        <p:spPr>
          <a:xfrm>
            <a:off x="6080760" y="1097280"/>
            <a:ext cx="25400" cy="5577840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20040" y="1627632"/>
            <a:ext cx="11567160" cy="320040"/>
          </a:xfrm>
          <a:prstGeom prst="rect">
            <a:avLst/>
          </a:prstGeom>
          <a:solidFill>
            <a:srgbClr val="F1F5F9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1673352"/>
            <a:ext cx="5486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1" i="0">
                <a:solidFill>
                  <a:srgbClr val="1E3A5F"/>
                </a:solidFill>
              </a:rPr>
              <a:t>TASK 1 — Cancer Type Classification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0040" y="2084831"/>
            <a:ext cx="5577840" cy="457200"/>
          </a:xfrm>
          <a:prstGeom prst="rect">
            <a:avLst/>
          </a:prstGeom>
          <a:solidFill>
            <a:srgbClr val="FEE2E2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" y="2176271"/>
            <a:ext cx="5303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 i="0">
                <a:solidFill>
                  <a:srgbClr val="475569"/>
                </a:solidFill>
              </a:rPr>
              <a:t>BoW (raw word counts only)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309360" y="2084831"/>
            <a:ext cx="5577840" cy="457200"/>
          </a:xfrm>
          <a:prstGeom prst="rect">
            <a:avLst/>
          </a:prstGeom>
          <a:solidFill>
            <a:srgbClr val="DCFCE7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46520" y="2176271"/>
            <a:ext cx="5303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 i="0">
                <a:solidFill>
                  <a:srgbClr val="16A34A"/>
                </a:solidFill>
              </a:rPr>
              <a:t>TF-IDF (weighted — medical terms ranked higher)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20040" y="2606039"/>
            <a:ext cx="5577840" cy="457200"/>
          </a:xfrm>
          <a:prstGeom prst="rect">
            <a:avLst/>
          </a:prstGeom>
          <a:solidFill>
            <a:srgbClr val="FEE2E2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0" y="2697479"/>
            <a:ext cx="5303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 i="0">
                <a:solidFill>
                  <a:srgbClr val="475569"/>
                </a:solidFill>
              </a:rPr>
              <a:t>Logistic Regression only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09360" y="2606039"/>
            <a:ext cx="5577840" cy="457200"/>
          </a:xfrm>
          <a:prstGeom prst="rect">
            <a:avLst/>
          </a:prstGeom>
          <a:solidFill>
            <a:srgbClr val="DCFCE7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46520" y="2697479"/>
            <a:ext cx="5303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 i="0">
                <a:solidFill>
                  <a:srgbClr val="16A34A"/>
                </a:solidFill>
              </a:rPr>
              <a:t>LR + SVM + BERT + Embedding Similarity + RAG+LLM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20040" y="3127248"/>
            <a:ext cx="5577840" cy="457200"/>
          </a:xfrm>
          <a:prstGeom prst="rect">
            <a:avLst/>
          </a:prstGeom>
          <a:solidFill>
            <a:srgbClr val="FEE2E2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200" y="3218688"/>
            <a:ext cx="5303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 i="0">
                <a:solidFill>
                  <a:srgbClr val="475569"/>
                </a:solidFill>
              </a:rPr>
              <a:t>32 cancer types covered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309360" y="3127248"/>
            <a:ext cx="5577840" cy="457200"/>
          </a:xfrm>
          <a:prstGeom prst="rect">
            <a:avLst/>
          </a:prstGeom>
          <a:solidFill>
            <a:srgbClr val="DCFCE7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46520" y="3218688"/>
            <a:ext cx="5303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 i="0">
                <a:solidFill>
                  <a:srgbClr val="16A34A"/>
                </a:solidFill>
              </a:rPr>
              <a:t>35 cancer types — 3 more classes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20040" y="3648456"/>
            <a:ext cx="5577840" cy="457200"/>
          </a:xfrm>
          <a:prstGeom prst="rect">
            <a:avLst/>
          </a:prstGeom>
          <a:solidFill>
            <a:srgbClr val="FFEDD5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57200" y="3739896"/>
            <a:ext cx="5303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 i="0">
                <a:solidFill>
                  <a:srgbClr val="EA580C"/>
                </a:solidFill>
              </a:rPr>
              <a:t>95.31% accuracy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309360" y="3648456"/>
            <a:ext cx="5577840" cy="457200"/>
          </a:xfrm>
          <a:prstGeom prst="rect">
            <a:avLst/>
          </a:prstGeom>
          <a:solidFill>
            <a:srgbClr val="DCFCE7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46520" y="3739896"/>
            <a:ext cx="5303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 i="0">
                <a:solidFill>
                  <a:srgbClr val="16A34A"/>
                </a:solidFill>
              </a:rPr>
              <a:t>96.36% already — and still improving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20040" y="4169663"/>
            <a:ext cx="5577840" cy="457200"/>
          </a:xfrm>
          <a:prstGeom prst="rect">
            <a:avLst/>
          </a:prstGeom>
          <a:solidFill>
            <a:srgbClr val="FEE2E2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57200" y="4261103"/>
            <a:ext cx="5303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 i="0">
                <a:solidFill>
                  <a:srgbClr val="475569"/>
                </a:solidFill>
              </a:rPr>
              <a:t>No vector database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309360" y="4169663"/>
            <a:ext cx="5577840" cy="457200"/>
          </a:xfrm>
          <a:prstGeom prst="rect">
            <a:avLst/>
          </a:prstGeom>
          <a:solidFill>
            <a:srgbClr val="DCFCE7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46520" y="4261103"/>
            <a:ext cx="5303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 i="0">
                <a:solidFill>
                  <a:srgbClr val="16A34A"/>
                </a:solidFill>
              </a:rPr>
              <a:t>ChromaDB — 9,523 reports indexed, semantic search live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20040" y="4690871"/>
            <a:ext cx="5577840" cy="457200"/>
          </a:xfrm>
          <a:prstGeom prst="rect">
            <a:avLst/>
          </a:prstGeom>
          <a:solidFill>
            <a:srgbClr val="FEE2E2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57200" y="4782311"/>
            <a:ext cx="5303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 i="0">
                <a:solidFill>
                  <a:srgbClr val="475569"/>
                </a:solidFill>
              </a:rPr>
              <a:t>No RAG pipeline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309360" y="4690871"/>
            <a:ext cx="5577840" cy="457200"/>
          </a:xfrm>
          <a:prstGeom prst="rect">
            <a:avLst/>
          </a:prstGeom>
          <a:solidFill>
            <a:srgbClr val="EFF6FF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46520" y="4782311"/>
            <a:ext cx="5303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 i="0">
                <a:solidFill>
                  <a:srgbClr val="1E3A5F"/>
                </a:solidFill>
              </a:rPr>
              <a:t>RAG + LLM pipeline planned — our novel contribution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20040" y="5266944"/>
            <a:ext cx="11567160" cy="320040"/>
          </a:xfrm>
          <a:prstGeom prst="rect">
            <a:avLst/>
          </a:prstGeom>
          <a:solidFill>
            <a:srgbClr val="F1F5F9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57200" y="5312664"/>
            <a:ext cx="5486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1" i="0">
                <a:solidFill>
                  <a:srgbClr val="1E3A5F"/>
                </a:solidFill>
              </a:rPr>
              <a:t>TASK 2 — TNM Staging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20040" y="5687568"/>
            <a:ext cx="5577840" cy="457200"/>
          </a:xfrm>
          <a:prstGeom prst="rect">
            <a:avLst/>
          </a:prstGeom>
          <a:solidFill>
            <a:srgbClr val="FFEDD5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57200" y="5779008"/>
            <a:ext cx="5303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 i="0">
                <a:solidFill>
                  <a:srgbClr val="475569"/>
                </a:solidFill>
              </a:rPr>
              <a:t>BoW + LR baseline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309360" y="5687568"/>
            <a:ext cx="5577840" cy="457200"/>
          </a:xfrm>
          <a:prstGeom prst="rect">
            <a:avLst/>
          </a:prstGeom>
          <a:solidFill>
            <a:srgbClr val="EFF6FF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446520" y="5779008"/>
            <a:ext cx="5303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 i="0">
                <a:solidFill>
                  <a:srgbClr val="1E3A5F"/>
                </a:solidFill>
              </a:rPr>
              <a:t>TF-IDF + LR baseline  (to build next)</a:t>
            </a:r>
          </a:p>
        </p:txBody>
      </p:sp>
      <p:sp>
        <p:nvSpPr>
          <p:cNvPr id="42" name="Rectangle 41"/>
          <p:cNvSpPr/>
          <p:nvPr/>
        </p:nvSpPr>
        <p:spPr>
          <a:xfrm>
            <a:off x="320040" y="6208776"/>
            <a:ext cx="5577840" cy="457200"/>
          </a:xfrm>
          <a:prstGeom prst="rect">
            <a:avLst/>
          </a:prstGeom>
          <a:solidFill>
            <a:srgbClr val="FFEDD5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57200" y="6300216"/>
            <a:ext cx="5303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 i="0">
                <a:solidFill>
                  <a:srgbClr val="EA580C"/>
                </a:solidFill>
              </a:rPr>
              <a:t>BERT for T-stage → 79.6%   N/M also done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309360" y="6208776"/>
            <a:ext cx="5577840" cy="457200"/>
          </a:xfrm>
          <a:prstGeom prst="rect">
            <a:avLst/>
          </a:prstGeom>
          <a:solidFill>
            <a:srgbClr val="EFF6FF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446520" y="6300216"/>
            <a:ext cx="5303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 i="0">
                <a:solidFill>
                  <a:srgbClr val="1E3A5F"/>
                </a:solidFill>
              </a:rPr>
              <a:t>Reproduce + improve with our pipeline</a:t>
            </a:r>
          </a:p>
        </p:txBody>
      </p:sp>
      <p:sp>
        <p:nvSpPr>
          <p:cNvPr id="46" name="Rectangle 45"/>
          <p:cNvSpPr/>
          <p:nvPr/>
        </p:nvSpPr>
        <p:spPr>
          <a:xfrm>
            <a:off x="320040" y="6729983"/>
            <a:ext cx="5577840" cy="457200"/>
          </a:xfrm>
          <a:prstGeom prst="rect">
            <a:avLst/>
          </a:prstGeom>
          <a:solidFill>
            <a:srgbClr val="FFEDD5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57200" y="6821423"/>
            <a:ext cx="5303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 i="0">
                <a:solidFill>
                  <a:srgbClr val="EA580C"/>
                </a:solidFill>
              </a:rPr>
              <a:t>LLaMA zero-shot → T=54%, N=84%, M=91%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309360" y="6729983"/>
            <a:ext cx="5577840" cy="457200"/>
          </a:xfrm>
          <a:prstGeom prst="rect">
            <a:avLst/>
          </a:prstGeom>
          <a:solidFill>
            <a:srgbClr val="EFF6FF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446520" y="6821423"/>
            <a:ext cx="5303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 i="0">
                <a:solidFill>
                  <a:srgbClr val="1E3A5F"/>
                </a:solidFill>
              </a:rPr>
              <a:t>Reproduce + add RAG context for better accuracy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